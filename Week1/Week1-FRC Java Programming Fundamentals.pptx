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2" r:id="rId3"/>
    <p:sldId id="263" r:id="rId4"/>
    <p:sldId id="264" r:id="rId5"/>
    <p:sldId id="265" r:id="rId6"/>
    <p:sldId id="275" r:id="rId7"/>
    <p:sldId id="268" r:id="rId8"/>
    <p:sldId id="270" r:id="rId9"/>
    <p:sldId id="272" r:id="rId10"/>
    <p:sldId id="271" r:id="rId11"/>
    <p:sldId id="276" r:id="rId12"/>
    <p:sldId id="273" r:id="rId13"/>
    <p:sldId id="277" r:id="rId14"/>
    <p:sldId id="278" r:id="rId15"/>
    <p:sldId id="279" r:id="rId16"/>
    <p:sldId id="280" r:id="rId17"/>
    <p:sldId id="281" r:id="rId18"/>
    <p:sldId id="282" r:id="rId19"/>
    <p:sldId id="292" r:id="rId20"/>
    <p:sldId id="283" r:id="rId21"/>
    <p:sldId id="284" r:id="rId22"/>
    <p:sldId id="285" r:id="rId23"/>
    <p:sldId id="288" r:id="rId24"/>
    <p:sldId id="290" r:id="rId25"/>
    <p:sldId id="287" r:id="rId26"/>
    <p:sldId id="289" r:id="rId27"/>
    <p:sldId id="291" r:id="rId28"/>
    <p:sldId id="294" r:id="rId29"/>
    <p:sldId id="295" r:id="rId30"/>
    <p:sldId id="293" r:id="rId31"/>
    <p:sldId id="296" r:id="rId3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159" d="100"/>
          <a:sy n="159" d="100"/>
        </p:scale>
        <p:origin x="384" y="138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11/11/2025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0612" y="1295400"/>
            <a:ext cx="8382000" cy="2680127"/>
          </a:xfrm>
        </p:spPr>
        <p:txBody>
          <a:bodyPr/>
          <a:lstStyle/>
          <a:p>
            <a:r>
              <a:rPr lang="en-US" dirty="0"/>
              <a:t>Week 1: Java Programming for FRC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F5DCAA-704B-DF56-7164-7234827D6539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76219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Introduction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Programming for Robotics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Object Oriented Programming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Java Fundamentals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FRC Programming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Robot Lifecycle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Programming Structures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I/O (</a:t>
            </a:r>
            <a:r>
              <a:rPr lang="en-US" sz="2200" dirty="0" err="1">
                <a:latin typeface="Univers LT Std 45 Light"/>
              </a:rPr>
              <a:t>Teleop</a:t>
            </a:r>
            <a:r>
              <a:rPr lang="en-US" sz="2200" dirty="0">
                <a:latin typeface="Univers LT Std 45 Light"/>
              </a:rPr>
              <a:t>) Programming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6A3CFF-EA12-B762-BC1C-D687C89C9C64}"/>
              </a:ext>
            </a:extLst>
          </p:cNvPr>
          <p:cNvSpPr txBox="1">
            <a:spLocks/>
          </p:cNvSpPr>
          <p:nvPr/>
        </p:nvSpPr>
        <p:spPr>
          <a:xfrm>
            <a:off x="1139489" y="609453"/>
            <a:ext cx="5846006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Overview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39A9B2-5329-1201-6D99-DE019FF3C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6412" y="19812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862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333F4-5FB5-8317-9B0C-DBA18A3C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B09585E-3F3D-6CAB-2B0A-A8A2A18BBCD3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76219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Course Structure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Six weeks focusing on different areas of programming for FRC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1: Fundamentals of Java and FRC Programming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2: Dashboards and Logging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3: PID Motor Control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4: Swerve Drive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5: Vision and Localization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6: </a:t>
            </a:r>
            <a:r>
              <a:rPr lang="en-US" sz="2200" dirty="0" err="1">
                <a:latin typeface="Univers LT Std 45 Light"/>
              </a:rPr>
              <a:t>Pathplanner</a:t>
            </a: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4A2637-7AE0-BF03-8BFF-248A1142F9F1}"/>
              </a:ext>
            </a:extLst>
          </p:cNvPr>
          <p:cNvSpPr txBox="1">
            <a:spLocks/>
          </p:cNvSpPr>
          <p:nvPr/>
        </p:nvSpPr>
        <p:spPr>
          <a:xfrm>
            <a:off x="1139489" y="609453"/>
            <a:ext cx="5846006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557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49FF-E3A1-584A-9E39-E26BE63EC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A29D53A-4E44-ECF5-83E3-631D4ADA8436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76219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Course Structure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Six weeks focusing on different areas of programming for FRC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b="1" dirty="0">
                <a:latin typeface="Univers LT Std 45 Light"/>
              </a:rPr>
              <a:t>Week 1: Fundamentals of Java and FRC Programming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2: Dashboards and Logging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3: PID Motor Control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4: Swerve Drive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5: Vision and Localization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Week 6: </a:t>
            </a:r>
            <a:r>
              <a:rPr lang="en-US" sz="2200" dirty="0" err="1">
                <a:latin typeface="Univers LT Std 45 Light"/>
              </a:rPr>
              <a:t>Pathplanner</a:t>
            </a: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1C1E37-44B3-F080-3F15-C26D64591823}"/>
              </a:ext>
            </a:extLst>
          </p:cNvPr>
          <p:cNvSpPr txBox="1">
            <a:spLocks/>
          </p:cNvSpPr>
          <p:nvPr/>
        </p:nvSpPr>
        <p:spPr>
          <a:xfrm>
            <a:off x="1139489" y="609453"/>
            <a:ext cx="5846006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230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7A868-AB7C-BDBB-F3E0-EE1CB42DF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CEDC8FC-9959-C81C-75DD-23979521130F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4121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Robot is recommended but not required in this course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Some lessons will be focused on programming and conceptual information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Some lessons will be more robot focused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All lessons will be recorded and uploaded to </a:t>
            </a:r>
            <a:r>
              <a:rPr lang="en-US" sz="1800" dirty="0" err="1">
                <a:latin typeface="Univers LT Std 45 Light"/>
              </a:rPr>
              <a:t>Youtube</a:t>
            </a: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Code and slides will be uploaded to GitHub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600" dirty="0">
                <a:latin typeface="Univers LT Std 45 Light"/>
              </a:rPr>
              <a:t>(If you are not familiar with GitHub now would be a great time to ask)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It is a structured course, but its focus is teaching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Questions and rabbit holes are ideal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8AB1C8-6C52-09CA-6D21-4D102E6B1824}"/>
              </a:ext>
            </a:extLst>
          </p:cNvPr>
          <p:cNvSpPr txBox="1">
            <a:spLocks/>
          </p:cNvSpPr>
          <p:nvPr/>
        </p:nvSpPr>
        <p:spPr>
          <a:xfrm>
            <a:off x="1139489" y="609453"/>
            <a:ext cx="5846006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Introduction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07A9F-E7C5-493B-3B6C-B75A2C18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2" y="2209800"/>
            <a:ext cx="3486637" cy="3629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180894-E5BA-F2B2-E75D-F9DAAB8CE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880" y="1447800"/>
            <a:ext cx="3762900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55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36AE7-888F-2BD6-3180-A5745FE1C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73EE15D-CB65-E196-07EE-2FC26030843E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89935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Discuss programming for robotics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Introduce fundamentals of Object-Oriented Programming (OOP)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Look at the fundamentals of the Java language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Explain the fundamentals of programming for FRC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Environment setup (</a:t>
            </a:r>
            <a:r>
              <a:rPr lang="en-US" sz="1800" dirty="0" err="1">
                <a:latin typeface="Univers LT Std 45 Light"/>
              </a:rPr>
              <a:t>WPILib</a:t>
            </a:r>
            <a:r>
              <a:rPr lang="en-US" sz="1800" dirty="0">
                <a:latin typeface="Univers LT Std 45 Light"/>
              </a:rPr>
              <a:t>)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Third party libraries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Discuss different methods for structuring FRC code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Timed/Iterative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Command-based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Build out a basic FRC </a:t>
            </a:r>
            <a:r>
              <a:rPr lang="en-US" sz="2200" dirty="0" err="1">
                <a:latin typeface="Univers LT Std 45 Light"/>
              </a:rPr>
              <a:t>Teleop</a:t>
            </a:r>
            <a:r>
              <a:rPr lang="en-US" sz="2200" dirty="0">
                <a:latin typeface="Univers LT Std 45 Light"/>
              </a:rPr>
              <a:t> code for a Tank Drive robot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E4AF97C-1A82-1372-CBCB-94D5774E1E6E}"/>
              </a:ext>
            </a:extLst>
          </p:cNvPr>
          <p:cNvSpPr txBox="1">
            <a:spLocks/>
          </p:cNvSpPr>
          <p:nvPr/>
        </p:nvSpPr>
        <p:spPr>
          <a:xfrm>
            <a:off x="1139489" y="609453"/>
            <a:ext cx="5846006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Week 1 Goal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99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E3E8-5E4E-11E4-9364-07427E1D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C7F8936-4C67-3194-14C0-2FE3C8FAB6AF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7263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Robots are systems made up of different hardware components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Motors (Servos, Steppers, DC)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Sensors (Encoders, Limit Switches, Cameras)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Software combines all these components into a cohesive structure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Typical Robot control loop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Inputs: Sensors, Controllers, Cameras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Outputs: Actuators, Drivetrain, Arms, Elevators, Intakes (etc..)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Outputs can also act as “inputs”</a:t>
            </a: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7BC65F6-093F-A910-9689-DF363647BEC6}"/>
              </a:ext>
            </a:extLst>
          </p:cNvPr>
          <p:cNvSpPr txBox="1">
            <a:spLocks/>
          </p:cNvSpPr>
          <p:nvPr/>
        </p:nvSpPr>
        <p:spPr>
          <a:xfrm>
            <a:off x="1139489" y="609453"/>
            <a:ext cx="5846006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Programming for Robotics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D2DF9-A3B3-581F-BA99-6B8AF7B6B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412" y="1184894"/>
            <a:ext cx="4097446" cy="550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31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D3C1-05B4-C2A4-2E57-D1817FDF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A7CF5F1-9047-C458-24AB-32B8626E6ED8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1167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OOP is a programming paradigm that focuses on the manipulation of </a:t>
            </a:r>
            <a:r>
              <a:rPr lang="en-US" sz="2200" b="1" dirty="0">
                <a:latin typeface="Univers LT Std 45 Light"/>
              </a:rPr>
              <a:t>objects</a:t>
            </a:r>
            <a:endParaRPr lang="en-US" sz="22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Object is a software entity that bundles: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600" dirty="0">
                <a:latin typeface="Univers LT Std 45 Light"/>
              </a:rPr>
              <a:t>Data (What it is)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600" dirty="0">
                <a:latin typeface="Univers LT Std 45 Light"/>
              </a:rPr>
              <a:t>Behavior (What it does)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000" dirty="0">
                <a:latin typeface="Univers LT Std 45 Light"/>
              </a:rPr>
              <a:t>Keeps code modular and readable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600" dirty="0">
              <a:latin typeface="Univers LT Std 45 Light"/>
            </a:endParaRP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F68EBC-E20A-7654-AB92-5246C7A05A26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>
                <a:latin typeface="Avenir Next"/>
              </a:rPr>
              <a:t>Object Oriented Programming</a:t>
            </a:r>
            <a:endParaRPr lang="en-US" dirty="0"/>
          </a:p>
        </p:txBody>
      </p:sp>
      <p:pic>
        <p:nvPicPr>
          <p:cNvPr id="2050" name="Picture 2" descr="Python Intermediate: Object Oriented Programming">
            <a:extLst>
              <a:ext uri="{FF2B5EF4-FFF2-40B4-BE49-F238E27FC236}">
                <a16:creationId xmlns:a16="http://schemas.microsoft.com/office/drawing/2014/main" id="{11ADDF49-1EBF-3C6D-CFA2-D57ABB1B2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612" y="1524000"/>
            <a:ext cx="56896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119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8994-3FDC-5A99-D45D-0E85632E1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623BD31-1722-59F8-DD22-261AB78A8221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627145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In Robotics each subsystem is an object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Drivetrain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900" dirty="0">
                <a:latin typeface="Univers LT Std 45 Light"/>
              </a:rPr>
              <a:t>Data: Drive Motors, Encoders, Gyroscope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900" dirty="0">
                <a:latin typeface="Univers LT Std 45 Light"/>
              </a:rPr>
              <a:t>Behavior: Drive around, Autonomous Path Following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Intake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900" dirty="0">
                <a:latin typeface="Univers LT Std 45 Light"/>
              </a:rPr>
              <a:t>Data: Motors, Limit Switches, Servos, Pneumatics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900" dirty="0">
                <a:latin typeface="Univers LT Std 45 Light"/>
              </a:rPr>
              <a:t>Behavior: Pull in objects, Spit out objects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Elevator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900" dirty="0">
                <a:latin typeface="Univers LT Std 45 Light"/>
              </a:rPr>
              <a:t>Data: Motors, Encoders, Limit Switches, Servos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900" dirty="0">
                <a:latin typeface="Univers LT Std 45 Light"/>
              </a:rPr>
              <a:t>Behavior: Move to a position</a:t>
            </a:r>
          </a:p>
          <a:p>
            <a:pPr marL="502920" lvl="2" indent="0">
              <a:spcAft>
                <a:spcPts val="600"/>
              </a:spcAft>
              <a:buNone/>
            </a:pPr>
            <a:r>
              <a:rPr lang="en-US" sz="1400" dirty="0">
                <a:latin typeface="Univers LT Std 45 Light"/>
              </a:rPr>
              <a:t> 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600" dirty="0">
              <a:latin typeface="Univers LT Std 45 Light"/>
            </a:endParaRP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EDFF19-BB72-2A84-B658-DE3820ED3A25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>
                <a:latin typeface="Avenir Next"/>
              </a:rPr>
              <a:t>Object Oriented Programming</a:t>
            </a:r>
            <a:endParaRPr lang="en-US" dirty="0"/>
          </a:p>
        </p:txBody>
      </p:sp>
      <p:pic>
        <p:nvPicPr>
          <p:cNvPr id="3074" name="Picture 2" descr="Drivetrain CAD - Technical - Chief Delphi">
            <a:extLst>
              <a:ext uri="{FF2B5EF4-FFF2-40B4-BE49-F238E27FC236}">
                <a16:creationId xmlns:a16="http://schemas.microsoft.com/office/drawing/2014/main" id="{FF142D4D-2196-559B-B1BB-35948AEC2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612" y="1184894"/>
            <a:ext cx="3836166" cy="241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: A More Versatile STEAMWORKS Intake - CD-Media: Photos - Chief Delphi">
            <a:extLst>
              <a:ext uri="{FF2B5EF4-FFF2-40B4-BE49-F238E27FC236}">
                <a16:creationId xmlns:a16="http://schemas.microsoft.com/office/drawing/2014/main" id="{0A15DC06-A277-352B-B823-EEB560A6BF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7"/>
          <a:stretch>
            <a:fillRect/>
          </a:stretch>
        </p:blipFill>
        <p:spPr bwMode="auto">
          <a:xfrm>
            <a:off x="6766634" y="3951592"/>
            <a:ext cx="4168121" cy="266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558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E668B-448B-1E6B-40CC-C089A884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CB8B5AE-85A8-F53D-8092-0C2EC2EBBA26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627145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Key OOP Concepts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Classes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The blueprint of an object (</a:t>
            </a:r>
            <a:r>
              <a:rPr lang="en-US" sz="1800" dirty="0" err="1">
                <a:latin typeface="Univers LT Std 45 Light"/>
              </a:rPr>
              <a:t>MotorController</a:t>
            </a:r>
            <a:r>
              <a:rPr lang="en-US" sz="1800" dirty="0">
                <a:latin typeface="Univers LT Std 45 Light"/>
              </a:rPr>
              <a:t>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Object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A single instance of that class (</a:t>
            </a:r>
            <a:r>
              <a:rPr lang="en-US" sz="1800" dirty="0" err="1">
                <a:latin typeface="Univers LT Std 45 Light"/>
              </a:rPr>
              <a:t>leftMotor</a:t>
            </a:r>
            <a:r>
              <a:rPr lang="en-US" sz="1800" dirty="0">
                <a:latin typeface="Univers LT Std 45 Light"/>
              </a:rPr>
              <a:t>, </a:t>
            </a:r>
            <a:r>
              <a:rPr lang="en-US" sz="1800" dirty="0" err="1">
                <a:latin typeface="Univers LT Std 45 Light"/>
              </a:rPr>
              <a:t>rightMotor</a:t>
            </a:r>
            <a:r>
              <a:rPr lang="en-US" sz="1500" dirty="0">
                <a:latin typeface="Univers LT Std 45 Light"/>
              </a:rPr>
              <a:t>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Method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What the object can do (</a:t>
            </a:r>
            <a:r>
              <a:rPr lang="en-US" sz="1800" dirty="0" err="1">
                <a:latin typeface="Univers LT Std 45 Light"/>
              </a:rPr>
              <a:t>setSpeed</a:t>
            </a:r>
            <a:r>
              <a:rPr lang="en-US" sz="1800" dirty="0">
                <a:latin typeface="Univers LT Std 45 Light"/>
              </a:rPr>
              <a:t>(), stop(), </a:t>
            </a:r>
            <a:r>
              <a:rPr lang="en-US" sz="1800" dirty="0" err="1">
                <a:latin typeface="Univers LT Std 45 Light"/>
              </a:rPr>
              <a:t>driveForward</a:t>
            </a:r>
            <a:r>
              <a:rPr lang="en-US" sz="1800" dirty="0">
                <a:latin typeface="Univers LT Std 45 Light"/>
              </a:rPr>
              <a:t>())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Encapsulation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Hide messy internals of the class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You don’t need to know how a motor controller works, just how to program it</a:t>
            </a:r>
          </a:p>
          <a:p>
            <a:pPr marL="502920" lvl="2" indent="0">
              <a:spcAft>
                <a:spcPts val="600"/>
              </a:spcAft>
              <a:buNone/>
            </a:pPr>
            <a:r>
              <a:rPr lang="en-US" sz="1400" dirty="0">
                <a:latin typeface="Univers LT Std 45 Light"/>
              </a:rPr>
              <a:t> 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600" dirty="0">
              <a:latin typeface="Univers LT Std 45 Light"/>
            </a:endParaRP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5CF5FA-D4DC-74A6-3B97-3D3942B03AA0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Object Oriented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20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31A95-BCF7-1B6F-502A-B66EF25EF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E691422-187E-3E11-96E5-03DAAC5919B3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80029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Java is a compiler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Compiles human readable code into machine language which can be executed by the computer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Java is one of the more popular examples of OOP languages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Python, C++, C#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Strongly typed language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Primitive data types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Java basics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Methods and Return Types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Classes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600" dirty="0">
              <a:latin typeface="Univers LT Std 45 Light"/>
            </a:endParaRP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5C0924-B4A0-7044-A9F6-80DA1B8E49E6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Fundamentals of 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40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9FF60-C46A-92CD-E782-B596A395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72E88FB-0191-2180-A270-D60EA2E48820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627145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The non-object building blocks of the Java language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Store their simple values directly in memory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Foundation for the objects that programmers design and build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byte: 8-bit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short: 16-bit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int: 32-bit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long: 64-bit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float: 32-bit floating-point number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double: 64-bit floating-point number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char: 16-bit character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 err="1">
                <a:latin typeface="Univers LT Std 45 Light"/>
              </a:rPr>
              <a:t>boolean</a:t>
            </a:r>
            <a:r>
              <a:rPr lang="en-US" sz="1800" dirty="0">
                <a:latin typeface="Univers LT Std 45 Light"/>
              </a:rPr>
              <a:t>: 1-bit value (true/false)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  <a:p>
            <a:pPr marL="502920" lvl="2" indent="0">
              <a:spcAft>
                <a:spcPts val="600"/>
              </a:spcAft>
              <a:buNone/>
            </a:pPr>
            <a:r>
              <a:rPr lang="en-US" sz="1400" dirty="0">
                <a:latin typeface="Univers LT Std 45 Light"/>
              </a:rPr>
              <a:t> 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600" dirty="0">
              <a:latin typeface="Univers LT Std 45 Light"/>
            </a:endParaRP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5D5716-A50F-FF44-09C8-0AC7E01C5DCC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Primitive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16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9FCF2-A5AF-CADF-ACA9-B04A205E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2DE12D8-96C6-5D4F-746A-913158D453D5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627145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The non-object building blocks of the Java language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Store their simple values directly in memory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Foundation for the objects that programmers design and build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byte: 8-bit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short: 16-bit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>
                <a:latin typeface="Univers LT Std 45 Light"/>
              </a:rPr>
              <a:t>int: 32-bit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long: 64-bit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>
                <a:latin typeface="Univers LT Std 45 Light"/>
              </a:rPr>
              <a:t>float: 32-bit floating-point number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>
                <a:latin typeface="Univers LT Std 45 Light"/>
              </a:rPr>
              <a:t>double: 64-bit floating-point number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char: 16-bit character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 err="1">
                <a:latin typeface="Univers LT Std 45 Light"/>
              </a:rPr>
              <a:t>boolean</a:t>
            </a:r>
            <a:r>
              <a:rPr lang="en-US" sz="1800" b="1" dirty="0">
                <a:latin typeface="Univers LT Std 45 Light"/>
              </a:rPr>
              <a:t>: 1-bit value (true/false)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  <a:p>
            <a:pPr marL="502920" lvl="2" indent="0">
              <a:spcAft>
                <a:spcPts val="600"/>
              </a:spcAft>
              <a:buNone/>
            </a:pPr>
            <a:r>
              <a:rPr lang="en-US" sz="1400" dirty="0">
                <a:latin typeface="Univers LT Std 45 Light"/>
              </a:rPr>
              <a:t> 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600" dirty="0">
              <a:latin typeface="Univers LT Std 45 Light"/>
            </a:endParaRP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F52715-7C38-A27C-9957-D320A0F8708D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Primitive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34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185E-B73F-EED9-8E0D-32E30F54C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B69037C-DD7B-1633-7BCE-09BE1204EC8E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627145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int: 32-bit integer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Whole number (1, 15, 450)</a:t>
            </a:r>
            <a:endParaRPr lang="en-US" sz="2200" dirty="0">
              <a:latin typeface="Univers LT Std 45 Light"/>
            </a:endParaRP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float: 32-bit floating-point number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Decimal numbers (1.0, 48.42)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double: 64-bit floating-point number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Decimal numbers (1.0, 48.42)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 err="1">
                <a:latin typeface="Univers LT Std 45 Light"/>
              </a:rPr>
              <a:t>boolean</a:t>
            </a:r>
            <a:r>
              <a:rPr lang="en-US" sz="2200" dirty="0">
                <a:latin typeface="Univers LT Std 45 Light"/>
              </a:rPr>
              <a:t>: 1-bit value (true/false)</a:t>
            </a:r>
            <a:endParaRPr lang="en-US" sz="1800" dirty="0">
              <a:latin typeface="Univers LT Std 45 Light"/>
            </a:endParaRP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  <a:p>
            <a:pPr marL="502920" lvl="2" indent="0">
              <a:spcAft>
                <a:spcPts val="600"/>
              </a:spcAft>
              <a:buNone/>
            </a:pPr>
            <a:r>
              <a:rPr lang="en-US" sz="1400" dirty="0">
                <a:latin typeface="Univers LT Std 45 Light"/>
              </a:rPr>
              <a:t> 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600" dirty="0">
              <a:latin typeface="Univers LT Std 45 Light"/>
            </a:endParaRP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BE346C-EA8C-1371-EB3E-C552F3574B83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Primitive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752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A654-0181-B64B-1642-E1DC4E984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FD384FF-1292-6777-4A24-7410EE4B4C97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421523" cy="52113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Strongly typed languages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Declare the type of a new variable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Semicolon (;) ends the line of code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Manipulate variables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Add, subtract, divide, multiple, </a:t>
            </a:r>
            <a:r>
              <a:rPr lang="en-US" sz="1800" dirty="0" err="1">
                <a:latin typeface="Univers LT Std 45 Light"/>
              </a:rPr>
              <a:t>etc</a:t>
            </a:r>
            <a:r>
              <a:rPr lang="en-US" sz="1800" dirty="0">
                <a:latin typeface="Univers LT Std 45 Light"/>
              </a:rPr>
              <a:t>…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Compare two variables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Non-Primitive Types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Array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String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Enum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1D6B9F9-F8D4-984D-5E27-4CDE8D448326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Java Basics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B74F8-B43D-CAB5-CD47-FEA725BDD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795" y="868598"/>
            <a:ext cx="3768437" cy="1219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2DCFBD-E976-49BE-3220-549C1C1F4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012" y="2743200"/>
            <a:ext cx="4950804" cy="995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0961B4-D7DF-D203-5F38-E9EC1BC1F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108" y="4724400"/>
            <a:ext cx="4525006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04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169E4-60A5-8BB5-FADD-318B0D206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F00D1A0-5D85-CD38-9A99-58B5DCFE187E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421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Control flow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Code executes from top to bottom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Manipulate the flow of code with logic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If statements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Branching statements based on a condition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Code within the {} is executed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While/For loops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Iterative loops until a condition is met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Switch statements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Branching statement based on the state of a variable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7A09A2-7B19-D952-25AB-634E16470FFC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Java Basics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A352B-5D1B-14E2-F491-7BE83CEB1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12" y="456525"/>
            <a:ext cx="3858163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86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C4F7-5388-1206-BED6-28A91706A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278D154-9D7C-D919-75A6-F756547AE129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421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Methods/Functions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Abstract code snippets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Reusable snippets of code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Return Types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Specify the variable being returned by a function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F86DFD-4588-F2D8-D769-CA094184CC68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Java Basics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350F6-BF6B-4F09-21EE-408A1528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12" y="2166761"/>
            <a:ext cx="4372585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51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E024-8EF4-F1D3-9D50-5A2AC233E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A24113-825A-A9A4-89E2-A70D5EBEB5F6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421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Classes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Blueprints for custom objects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Constructor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Function that runs when a new instance of that class is created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Defining function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Create custom classes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Java requires that each custom class is given its own file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Public vs Private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Load in classes from libraries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EEA6B2-E5FE-9762-4FA5-BF04893928AB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Java Basics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3C6AAC-A3A2-0C88-10EF-31F038FE7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0"/>
            <a:ext cx="4818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434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3B87-22C1-E187-7A21-0D7F83BF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40E2E1D-1297-699D-7145-AF079509BAEA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421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Instantiating a new object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“new” keyword needed whenever you create a new object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Non-objects don’t need the new keyword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“</a:t>
            </a:r>
            <a:r>
              <a:rPr lang="en-US" sz="2200" dirty="0" err="1">
                <a:latin typeface="Univers LT Std 45 Light"/>
              </a:rPr>
              <a:t>leftMotor</a:t>
            </a:r>
            <a:r>
              <a:rPr lang="en-US" sz="2200" dirty="0">
                <a:latin typeface="Univers LT Std 45 Light"/>
              </a:rPr>
              <a:t>” and “</a:t>
            </a:r>
            <a:r>
              <a:rPr lang="en-US" sz="2200" dirty="0" err="1">
                <a:latin typeface="Univers LT Std 45 Light"/>
              </a:rPr>
              <a:t>rightMotor</a:t>
            </a:r>
            <a:r>
              <a:rPr lang="en-US" sz="2200" dirty="0">
                <a:latin typeface="Univers LT Std 45 Light"/>
              </a:rPr>
              <a:t>” are different variables built from the same blueprint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Pass in variable constructor specific parameters when creating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303893-7225-733E-2409-AD133C8253DB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Java Basics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C41F58-F751-93D2-C242-201624B79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726" y="1981200"/>
            <a:ext cx="4421523" cy="303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09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E21FF-195F-0759-44F8-448C04C6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FF7DC6F-9090-123D-73D9-E9E9A9FFAD39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7469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Setting up the IDE (Integrated Development Environment)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 err="1">
                <a:latin typeface="Univers LT Std 45 Light"/>
              </a:rPr>
              <a:t>WPILib</a:t>
            </a:r>
            <a:endParaRPr lang="en-US" sz="2200" dirty="0">
              <a:latin typeface="Univers LT Std 45 Light"/>
            </a:endParaRP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Structure of a FRC Java Program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Timed vs Command-based programming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Building a basic </a:t>
            </a:r>
            <a:r>
              <a:rPr lang="en-US" sz="2200" dirty="0" err="1">
                <a:latin typeface="Univers LT Std 45 Light"/>
              </a:rPr>
              <a:t>Teleop</a:t>
            </a:r>
            <a:r>
              <a:rPr lang="en-US" sz="2200" dirty="0">
                <a:latin typeface="Univers LT Std 45 Light"/>
              </a:rPr>
              <a:t> program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59EB73-3357-D999-A8E1-451B3E4A5580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FRC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79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CEF4-0051-50E7-40F6-D56D7B8C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CF2B4A8-6E08-0C24-89B8-20D4C15F23BF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38119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Programming with Java in FRC is done in the </a:t>
            </a:r>
            <a:r>
              <a:rPr lang="en-US" sz="2200" dirty="0" err="1">
                <a:latin typeface="Univers LT Std 45 Light"/>
              </a:rPr>
              <a:t>WPILib</a:t>
            </a:r>
            <a:r>
              <a:rPr lang="en-US" sz="2200" dirty="0">
                <a:latin typeface="Univers LT Std 45 Light"/>
              </a:rPr>
              <a:t> development environment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Visual Studio Code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 err="1">
                <a:latin typeface="Univers LT Std 45 Light"/>
              </a:rPr>
              <a:t>WPILib</a:t>
            </a:r>
            <a:r>
              <a:rPr lang="en-US" sz="2200" dirty="0">
                <a:latin typeface="Univers LT Std 45 Light"/>
              </a:rPr>
              <a:t> Command Palette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Create new projects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Deploy and build code</a:t>
            </a:r>
          </a:p>
          <a:p>
            <a:pPr marL="137160" lvl="1" indent="0">
              <a:spcAft>
                <a:spcPts val="600"/>
              </a:spcAft>
              <a:buNone/>
            </a:pP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73A80CC-3646-7F48-5F53-F20223EBD4E3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FRC Programming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EBFC7-17F9-6F9E-E657-70BBE6E11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12" y="1326852"/>
            <a:ext cx="5978055" cy="445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13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A620C-4DEA-91BA-2690-76E99747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59D2CCF-97B1-BEF5-1000-447A21BE19A1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945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WPI Robotics Library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Standard software library for FRC Robotics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Java, C++, Python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Contains a bunch of useful classes and subroutines for FRC programming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Controllers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Drivetrains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Vision pipelines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Unit conversions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Useful utility applications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 err="1">
                <a:latin typeface="Univers LT Std 45 Light"/>
              </a:rPr>
              <a:t>SmartDashBoard</a:t>
            </a:r>
            <a:r>
              <a:rPr lang="en-US" sz="1800" dirty="0">
                <a:latin typeface="Univers LT Std 45 Light"/>
              </a:rPr>
              <a:t>/Shuffleboard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 err="1">
                <a:latin typeface="Univers LT Std 45 Light"/>
              </a:rPr>
              <a:t>PathWeaver</a:t>
            </a: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101BF3-201D-09A1-CF77-A72DCED529F7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 err="1">
                <a:latin typeface="Avenir Next"/>
              </a:rPr>
              <a:t>WPILib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85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FCB9C-2E2E-BF34-7304-E0716CE5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B5B2435-69DD-52D6-220F-DA6D60E564F8}"/>
              </a:ext>
            </a:extLst>
          </p:cNvPr>
          <p:cNvSpPr txBox="1">
            <a:spLocks/>
          </p:cNvSpPr>
          <p:nvPr/>
        </p:nvSpPr>
        <p:spPr>
          <a:xfrm>
            <a:off x="1139488" y="1326852"/>
            <a:ext cx="70123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“Create New Project” from the </a:t>
            </a:r>
            <a:r>
              <a:rPr lang="en-US" sz="2200" dirty="0" err="1">
                <a:latin typeface="Univers LT Std 45 Light"/>
              </a:rPr>
              <a:t>WPILib</a:t>
            </a:r>
            <a:r>
              <a:rPr lang="en-US" sz="2200" dirty="0">
                <a:latin typeface="Univers LT Std 45 Light"/>
              </a:rPr>
              <a:t> command palette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Template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Timed or Command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Project location and name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Team number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Robot Generated structure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Gradle files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System build files (dependencies and deploy commands)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Actual code lives in the </a:t>
            </a:r>
            <a:r>
              <a:rPr lang="en-US" sz="1800" dirty="0" err="1">
                <a:latin typeface="Univers LT Std 45 Light"/>
              </a:rPr>
              <a:t>src</a:t>
            </a:r>
            <a:r>
              <a:rPr lang="en-US" sz="1800" dirty="0">
                <a:latin typeface="Univers LT Std 45 Light"/>
              </a:rPr>
              <a:t>\main\java\</a:t>
            </a:r>
            <a:r>
              <a:rPr lang="en-US" sz="1800" dirty="0" err="1">
                <a:latin typeface="Univers LT Std 45 Light"/>
              </a:rPr>
              <a:t>frc</a:t>
            </a:r>
            <a:r>
              <a:rPr lang="en-US" sz="1800" dirty="0">
                <a:latin typeface="Univers LT Std 45 Light"/>
              </a:rPr>
              <a:t>\robot folder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Main.java: Program launch file, rarely modified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Robot.java: Entry point for robot logic, main programming file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EE29A7-B08B-8F33-7A18-10AFFBCC8570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FRC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923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938C6-BFCD-CEC9-D773-0935C1DC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AEEEB36-A422-1E9B-4AB8-7D56DA63068A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335924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Installing third party libraries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Code built specifically for certain hardware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Cross The Road Electronics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Rev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 err="1">
                <a:latin typeface="Univers LT Std 45 Light"/>
              </a:rPr>
              <a:t>LimeLight</a:t>
            </a: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 err="1">
                <a:latin typeface="Univers LT Std 45 Light"/>
              </a:rPr>
              <a:t>PathPlanner</a:t>
            </a: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4D5515-C3B2-AA35-032F-470F30E9D009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FRC Programming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08148-7EDD-E917-9F18-76F128FA9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012" y="142416"/>
            <a:ext cx="2867425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96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472C9-98BD-20A2-EE89-F5D61F8D8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262F512-4E11-1176-D37F-8E52916D2C71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2597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All code is contained in one file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Robot.java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Manual control of inputs/outputs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Direct control of motors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Mapping joysticks to drivetrains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Great for simple setups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Can become quickly messy for more advanced systems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One function for each stage of the match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Loops at a frequency of 50 </a:t>
            </a:r>
            <a:r>
              <a:rPr lang="en-US" sz="1800" dirty="0" err="1">
                <a:latin typeface="Univers LT Std 45 Light"/>
              </a:rPr>
              <a:t>hz</a:t>
            </a:r>
            <a:r>
              <a:rPr lang="en-US" sz="1800" dirty="0">
                <a:latin typeface="Univers LT Std 45 Light"/>
              </a:rPr>
              <a:t> (code runs 50 times a second)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>
                <a:latin typeface="Univers LT Std 45 Light"/>
              </a:rPr>
              <a:t>DO NOT PROGRAM WITH WHILE/FOR LOOPS!!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562930D-833D-DB81-BC6C-10B6341D08F2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Timed-Based Programming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B8D1C-2D45-99EC-A794-688795C2F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724" y="1276161"/>
            <a:ext cx="4510348" cy="430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93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E6B46-7418-7991-AD8E-5F328126E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4F07D70-FBDF-05E9-0A76-D7CBFB45B517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7469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Creating a basic </a:t>
            </a:r>
            <a:r>
              <a:rPr lang="en-US" sz="2200" dirty="0" err="1">
                <a:latin typeface="Univers LT Std 45 Light"/>
              </a:rPr>
              <a:t>Teleop</a:t>
            </a:r>
            <a:r>
              <a:rPr lang="en-US" sz="2200" dirty="0">
                <a:latin typeface="Univers LT Std 45 Light"/>
              </a:rPr>
              <a:t> code in Timed-Based programming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Tank/Arcade drive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Simple joystick input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8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ACD4BF-0284-6A58-19AE-A8D95F865E6F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Timed-Based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87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EEA4A-A5E6-A979-302C-6D78FB8E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9ABBFA3-DC71-7491-6ED7-97C1DFBF3A49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5564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Keeps code organized and modular by splitting code into three main components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>
                <a:latin typeface="Univers LT Std 45 Light"/>
              </a:rPr>
              <a:t>Subsystems</a:t>
            </a:r>
            <a:r>
              <a:rPr lang="en-US" sz="1800" dirty="0">
                <a:latin typeface="Univers LT Std 45 Light"/>
              </a:rPr>
              <a:t>: main hardware components of the robot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 Drivetrain, Elevator, </a:t>
            </a:r>
            <a:r>
              <a:rPr lang="en-US" sz="1800" dirty="0" err="1">
                <a:latin typeface="Univers LT Std 45 Light"/>
              </a:rPr>
              <a:t>IntakeSystem</a:t>
            </a:r>
            <a:r>
              <a:rPr lang="en-US" sz="1800" dirty="0">
                <a:latin typeface="Univers LT Std 45 Light"/>
              </a:rPr>
              <a:t>, Vision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>
                <a:latin typeface="Univers LT Std 45 Light"/>
              </a:rPr>
              <a:t>Commands</a:t>
            </a:r>
            <a:r>
              <a:rPr lang="en-US" sz="1800" dirty="0">
                <a:latin typeface="Univers LT Std 45 Light"/>
              </a:rPr>
              <a:t>: actions which tell the subsystems what to do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Drive, </a:t>
            </a:r>
            <a:r>
              <a:rPr lang="en-US" sz="1800" dirty="0" err="1">
                <a:latin typeface="Univers LT Std 45 Light"/>
              </a:rPr>
              <a:t>FollowPath</a:t>
            </a:r>
            <a:r>
              <a:rPr lang="en-US" sz="1800" dirty="0">
                <a:latin typeface="Univers LT Std 45 Light"/>
              </a:rPr>
              <a:t>, </a:t>
            </a:r>
            <a:r>
              <a:rPr lang="en-US" sz="1800" dirty="0" err="1">
                <a:latin typeface="Univers LT Std 45 Light"/>
              </a:rPr>
              <a:t>ScoreHigh</a:t>
            </a:r>
            <a:r>
              <a:rPr lang="en-US" sz="1800" dirty="0">
                <a:latin typeface="Univers LT Std 45 Light"/>
              </a:rPr>
              <a:t>, Intake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b="1" dirty="0" err="1">
                <a:latin typeface="Univers LT Std 45 Light"/>
              </a:rPr>
              <a:t>RobotContainer</a:t>
            </a:r>
            <a:r>
              <a:rPr lang="en-US" sz="1800" dirty="0">
                <a:latin typeface="Univers LT Std 45 Light"/>
              </a:rPr>
              <a:t>: main logic that wires everything together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A8F6E1-B25F-D6BD-A066-E461015F1DD6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Command-Based Programming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AB2F1B-0FCF-9E94-0707-8762AB983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612" y="1542787"/>
            <a:ext cx="3238952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11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1438-8CA0-A70E-5A5A-AC61AD4D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2491BE0-D4A3-01FE-48FA-1B31500F8A8E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889471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Subsystems make up the core hardware components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Class-based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Class variables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Class methods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periodic function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Inherited function which runs at 50 </a:t>
            </a:r>
            <a:r>
              <a:rPr lang="en-US" sz="1800" dirty="0" err="1">
                <a:latin typeface="Univers LT Std 45 Light"/>
              </a:rPr>
              <a:t>hz</a:t>
            </a:r>
            <a:endParaRPr lang="en-US" sz="18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Each subsystem will run their periodic functions regardless of match stage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Updating sensors or Logging</a:t>
            </a:r>
            <a:endParaRPr lang="en-US" sz="14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707270-0E91-31CA-2787-A4A8AAF246EC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Command-Based Programming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A90FC-ABA0-2D31-1E71-5F6A2BD86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12" y="1326852"/>
            <a:ext cx="4858428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03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8C64D-B0D9-605A-6EEC-751EC0CA9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78157BC-E17F-8B6A-9874-BB697C6AADE0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005459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Command Scheduler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Subsystem dependencies</a:t>
            </a:r>
          </a:p>
          <a:p>
            <a:pPr marL="845820" lvl="2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Ensures no two commands use the same subsystem at once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Command lifecycles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Commands tell the subsystem to perform actions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initialize()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execute()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 err="1">
                <a:latin typeface="Univers LT Std 45 Light"/>
              </a:rPr>
              <a:t>isfinished</a:t>
            </a:r>
            <a:r>
              <a:rPr lang="en-US" sz="1800" dirty="0">
                <a:latin typeface="Univers LT Std 45 Light"/>
              </a:rPr>
              <a:t>()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end()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Default command is run whenever no other command is scheduled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 err="1">
                <a:latin typeface="Univers LT Std 45 Light"/>
              </a:rPr>
              <a:t>Teleop</a:t>
            </a:r>
            <a:r>
              <a:rPr lang="en-US" sz="1800" dirty="0">
                <a:latin typeface="Univers LT Std 45 Light"/>
              </a:rPr>
              <a:t> drive with joystick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49038F-5EA4-7C5C-4BDE-76B9DA76A94B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Command-Based Programming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D4A05-E5EB-41E5-69BB-80EE544BF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948" y="1905000"/>
            <a:ext cx="5861325" cy="385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38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B68A-2312-B670-4CB9-9E8CD7F5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9261E22-87E1-6B26-8164-103EC02DAED9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48025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Command-based programming has a high skill ceiling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Greatly enhances autonomous capabilities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Paradigm creates cleaner code which makes for easier advanced controls</a:t>
            </a: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Lots of considerations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Subsystem dependencies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Command groups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Scheduling issues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Conditional commands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2200" dirty="0">
              <a:latin typeface="Univers LT Std 45 Light"/>
            </a:endParaRP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22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C59358-461C-0CF7-4C83-720BDA1C1BAD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Command-Based Programming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00F9CD-940E-8AA7-9143-5C165EB73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919" y="2001784"/>
            <a:ext cx="4544191" cy="34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72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883C-AA1F-2EAD-9AB9-8A0FFBDD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1743053-F1B7-E441-268A-CD700BFC91E2}"/>
              </a:ext>
            </a:extLst>
          </p:cNvPr>
          <p:cNvSpPr txBox="1">
            <a:spLocks/>
          </p:cNvSpPr>
          <p:nvPr/>
        </p:nvSpPr>
        <p:spPr>
          <a:xfrm>
            <a:off x="1139489" y="1326852"/>
            <a:ext cx="7164723" cy="52263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Euphemia" pitchFamily="34" charset="0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26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441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992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568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144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0720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72968" indent="-2468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Euphemia" pitchFamily="34" charset="0"/>
              <a:buChar char="›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2200" dirty="0">
                <a:latin typeface="Univers LT Std 45 Light"/>
              </a:rPr>
              <a:t>Creating a basic Command-based </a:t>
            </a:r>
            <a:r>
              <a:rPr lang="en-US" sz="2200" dirty="0" err="1">
                <a:latin typeface="Univers LT Std 45 Light"/>
              </a:rPr>
              <a:t>Teleop</a:t>
            </a:r>
            <a:r>
              <a:rPr lang="en-US" sz="2200" dirty="0">
                <a:latin typeface="Univers LT Std 45 Light"/>
              </a:rPr>
              <a:t> program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Tank/Arcade drive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r>
              <a:rPr lang="en-US" sz="1800" dirty="0">
                <a:latin typeface="Univers LT Std 45 Light"/>
              </a:rPr>
              <a:t>Simple joystick input</a:t>
            </a: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2200" dirty="0">
              <a:latin typeface="Univers LT Std 45 Light"/>
            </a:endParaRPr>
          </a:p>
          <a:p>
            <a:pPr marL="114300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22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  <a:p>
            <a:pPr marL="480060" lvl="1" indent="-342900">
              <a:spcAft>
                <a:spcPts val="600"/>
              </a:spcAft>
              <a:buFont typeface="Euphemia" pitchFamily="34" charset="0"/>
              <a:buChar char="•"/>
            </a:pPr>
            <a:endParaRPr lang="en-US" sz="1400" dirty="0">
              <a:latin typeface="Univers LT Std 45 Ligh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4A29C9-F6EE-8676-0CB5-B78EED0ADB5E}"/>
              </a:ext>
            </a:extLst>
          </p:cNvPr>
          <p:cNvSpPr txBox="1">
            <a:spLocks/>
          </p:cNvSpPr>
          <p:nvPr/>
        </p:nvSpPr>
        <p:spPr>
          <a:xfrm>
            <a:off x="1139488" y="609453"/>
            <a:ext cx="6936123" cy="57544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dirty="0">
                <a:latin typeface="Avenir Next"/>
              </a:rPr>
              <a:t>Command-Based 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328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1892</TotalTime>
  <Words>1405</Words>
  <Application>Microsoft Office PowerPoint</Application>
  <PresentationFormat>Custom</PresentationFormat>
  <Paragraphs>292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Avenir Next</vt:lpstr>
      <vt:lpstr>Euphemia</vt:lpstr>
      <vt:lpstr>Univers LT Std 45 Light</vt:lpstr>
      <vt:lpstr>Math 16x9</vt:lpstr>
      <vt:lpstr>Week 1: Java Programming for FRC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Howe</dc:creator>
  <cp:lastModifiedBy>Alex Howe</cp:lastModifiedBy>
  <cp:revision>263</cp:revision>
  <dcterms:created xsi:type="dcterms:W3CDTF">2025-11-11T15:25:01Z</dcterms:created>
  <dcterms:modified xsi:type="dcterms:W3CDTF">2025-11-12T22:57:20Z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